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9" r:id="rId2"/>
    <p:sldId id="260"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93" d="100"/>
          <a:sy n="93" d="100"/>
        </p:scale>
        <p:origin x="44" y="44"/>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2026/4/18</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2026/4/18</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2026/4/18</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2026/4/18</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2026/4/18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2026/4/18</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2026/4/18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2026/4/18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2026/4/18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2026/4/18</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3.png"/><Relationship Id="rId5" Type="http://schemas.openxmlformats.org/officeDocument/2006/relationships/image" Target="../media/image2.jpeg"/><Relationship Id="rId10" Type="http://schemas.openxmlformats.org/officeDocument/2006/relationships/image" Target="../media/image7.jpg"/><Relationship Id="rId4" Type="http://schemas.openxmlformats.org/officeDocument/2006/relationships/image" Target="../media/image1.jpe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a:t>项目背景</a:t>
            </a:r>
          </a:p>
        </p:txBody>
      </p:sp>
      <p:sp>
        <p:nvSpPr>
          <p:cNvPr id="4" name="文本框 3"/>
          <p:cNvSpPr txBox="1"/>
          <p:nvPr/>
        </p:nvSpPr>
        <p:spPr>
          <a:xfrm>
            <a:off x="3011170" y="829945"/>
            <a:ext cx="4455795" cy="368300"/>
          </a:xfrm>
          <a:prstGeom prst="rect">
            <a:avLst/>
          </a:prstGeom>
          <a:noFill/>
        </p:spPr>
        <p:txBody>
          <a:bodyPr wrap="square" rtlCol="0">
            <a:spAutoFit/>
          </a:bodyPr>
          <a:lstStyle/>
          <a:p>
            <a:r>
              <a:rPr lang="zh-CN" altLang="en-US"/>
              <a:t>脑疾病，人类征服疾病的最后一道难关</a:t>
            </a:r>
          </a:p>
        </p:txBody>
      </p:sp>
      <p:sp>
        <p:nvSpPr>
          <p:cNvPr id="5" name="文本框 4"/>
          <p:cNvSpPr txBox="1"/>
          <p:nvPr/>
        </p:nvSpPr>
        <p:spPr>
          <a:xfrm>
            <a:off x="608399" y="1718833"/>
            <a:ext cx="3307617" cy="3416320"/>
          </a:xfrm>
          <a:prstGeom prst="rect">
            <a:avLst/>
          </a:prstGeom>
          <a:noFill/>
        </p:spPr>
        <p:txBody>
          <a:bodyPr wrap="square" rtlCol="0">
            <a:spAutoFit/>
          </a:bodyPr>
          <a:lstStyle/>
          <a:p>
            <a:r>
              <a:rPr lang="zh-CN" altLang="zh-CN" dirty="0"/>
              <a:t>当前脑疾病研究主要依赖</a:t>
            </a:r>
            <a:r>
              <a:rPr lang="zh-CN" altLang="zh-CN" b="1" dirty="0"/>
              <a:t>动物模型</a:t>
            </a:r>
            <a:r>
              <a:rPr lang="zh-CN" altLang="zh-CN" dirty="0"/>
              <a:t>及</a:t>
            </a:r>
            <a:r>
              <a:rPr lang="zh-CN" altLang="zh-CN" b="1" dirty="0"/>
              <a:t>临床数据分析</a:t>
            </a:r>
            <a:r>
              <a:rPr lang="zh-CN" altLang="zh-CN" dirty="0"/>
              <a:t>等手段。</a:t>
            </a:r>
            <a:endParaRPr lang="en-US" altLang="zh-CN" dirty="0"/>
          </a:p>
          <a:p>
            <a:r>
              <a:rPr lang="zh-CN" altLang="zh-CN" dirty="0"/>
              <a:t>动物模型受物种差异限制，难以模拟人类特有的脑发育；</a:t>
            </a:r>
            <a:endParaRPr lang="en-US" altLang="zh-CN" dirty="0"/>
          </a:p>
          <a:p>
            <a:r>
              <a:rPr lang="zh-CN" altLang="zh-CN" dirty="0"/>
              <a:t>临床研究多基于终末状态，缺乏对疾病动态发生过程的连续刻画。</a:t>
            </a:r>
            <a:endParaRPr lang="en-US" altLang="zh-CN" dirty="0"/>
          </a:p>
          <a:p>
            <a:r>
              <a:rPr lang="zh-CN" altLang="zh-CN" dirty="0"/>
              <a:t>由于人类在皮层结构、神经发生时序及调控机制等方面具有显著特异性，现有方法难以完整刻画脑疾病的发生机制，限制了对疾病本质的深入解析。</a:t>
            </a:r>
            <a:endParaRPr lang="zh-CN" altLang="en-US" dirty="0"/>
          </a:p>
        </p:txBody>
      </p:sp>
      <p:sp>
        <p:nvSpPr>
          <p:cNvPr id="7" name="文本框 6"/>
          <p:cNvSpPr txBox="1"/>
          <p:nvPr/>
        </p:nvSpPr>
        <p:spPr>
          <a:xfrm>
            <a:off x="4376075" y="6316274"/>
            <a:ext cx="6402705" cy="368300"/>
          </a:xfrm>
          <a:prstGeom prst="rect">
            <a:avLst/>
          </a:prstGeom>
          <a:noFill/>
        </p:spPr>
        <p:txBody>
          <a:bodyPr wrap="square" rtlCol="0">
            <a:spAutoFit/>
          </a:bodyPr>
          <a:lstStyle/>
          <a:p>
            <a:r>
              <a:rPr lang="zh-CN" altLang="en-US" dirty="0"/>
              <a:t>脑类器官构建精准破局，为脑疾病治疗方法研究提供关键支撑</a:t>
            </a:r>
          </a:p>
        </p:txBody>
      </p:sp>
      <p:sp>
        <p:nvSpPr>
          <p:cNvPr id="9" name="文本框 8"/>
          <p:cNvSpPr txBox="1"/>
          <p:nvPr/>
        </p:nvSpPr>
        <p:spPr>
          <a:xfrm>
            <a:off x="7466965" y="2010137"/>
            <a:ext cx="3803181" cy="3693319"/>
          </a:xfrm>
          <a:prstGeom prst="rect">
            <a:avLst/>
          </a:prstGeom>
          <a:noFill/>
        </p:spPr>
        <p:txBody>
          <a:bodyPr wrap="square" rtlCol="0">
            <a:spAutoFit/>
          </a:bodyPr>
          <a:lstStyle/>
          <a:p>
            <a:r>
              <a:rPr lang="zh-CN" altLang="zh-CN" dirty="0"/>
              <a:t>脑疾病的发生与发展高度依赖</a:t>
            </a:r>
            <a:r>
              <a:rPr lang="zh-CN" altLang="zh-CN" b="1" dirty="0"/>
              <a:t>细胞空间分布</a:t>
            </a:r>
            <a:r>
              <a:rPr lang="zh-CN" altLang="zh-CN" dirty="0"/>
              <a:t>、</a:t>
            </a:r>
            <a:r>
              <a:rPr lang="zh-CN" altLang="zh-CN" b="1" dirty="0"/>
              <a:t>信号分子梯度</a:t>
            </a:r>
            <a:r>
              <a:rPr lang="zh-CN" altLang="zh-CN" dirty="0"/>
              <a:t>及</a:t>
            </a:r>
            <a:r>
              <a:rPr lang="zh-CN" altLang="zh-CN" b="1" dirty="0"/>
              <a:t>神经网络结构</a:t>
            </a:r>
            <a:r>
              <a:rPr lang="zh-CN" altLang="zh-CN" dirty="0"/>
              <a:t>等多个因素的协同调控。然而，这些关键特征在</a:t>
            </a:r>
            <a:r>
              <a:rPr lang="zh-CN" altLang="zh-CN" b="1" dirty="0"/>
              <a:t>二维培养体系</a:t>
            </a:r>
            <a:r>
              <a:rPr lang="zh-CN" altLang="zh-CN" dirty="0"/>
              <a:t>中</a:t>
            </a:r>
            <a:r>
              <a:rPr lang="zh-CN" altLang="zh-CN" b="1" dirty="0"/>
              <a:t>难以有效重现</a:t>
            </a:r>
            <a:r>
              <a:rPr lang="zh-CN" altLang="zh-CN" dirty="0"/>
              <a:t>。二维脑细胞培养缺乏三维组织结构与细胞—细胞互作，难以重现脑组织中的</a:t>
            </a:r>
            <a:r>
              <a:rPr lang="zh-CN" altLang="zh-CN" b="1" dirty="0"/>
              <a:t>空间位置关系</a:t>
            </a:r>
            <a:r>
              <a:rPr lang="zh-CN" altLang="zh-CN" dirty="0"/>
              <a:t>与</a:t>
            </a:r>
            <a:r>
              <a:rPr lang="zh-CN" altLang="zh-CN" b="1" dirty="0"/>
              <a:t>微环境特征</a:t>
            </a:r>
            <a:r>
              <a:rPr lang="zh-CN" altLang="zh-CN" dirty="0"/>
              <a:t>。细胞命运及神经环路形成均受</a:t>
            </a:r>
            <a:r>
              <a:rPr lang="zh-CN" altLang="zh-CN" b="1" dirty="0"/>
              <a:t>神经网络结构</a:t>
            </a:r>
            <a:r>
              <a:rPr lang="zh-CN" altLang="zh-CN" dirty="0"/>
              <a:t>精细调控，多种疾病表型亦依赖</a:t>
            </a:r>
            <a:r>
              <a:rPr lang="zh-CN" altLang="zh-CN" b="1" dirty="0"/>
              <a:t>三维结构背景</a:t>
            </a:r>
            <a:r>
              <a:rPr lang="zh-CN" altLang="zh-CN" dirty="0"/>
              <a:t>才能真实呈现。因此缺乏空间维度的模型难以准确反映复杂病理过程。</a:t>
            </a:r>
          </a:p>
        </p:txBody>
      </p:sp>
      <p:sp>
        <p:nvSpPr>
          <p:cNvPr id="3" name="文本框 2">
            <a:extLst>
              <a:ext uri="{FF2B5EF4-FFF2-40B4-BE49-F238E27FC236}">
                <a16:creationId xmlns:a16="http://schemas.microsoft.com/office/drawing/2014/main" id="{5BEE3880-A4E4-4C6D-4DAE-772FC4E88049}"/>
              </a:ext>
            </a:extLst>
          </p:cNvPr>
          <p:cNvSpPr txBox="1"/>
          <p:nvPr/>
        </p:nvSpPr>
        <p:spPr>
          <a:xfrm>
            <a:off x="330104" y="1305312"/>
            <a:ext cx="5827236" cy="707886"/>
          </a:xfrm>
          <a:prstGeom prst="rect">
            <a:avLst/>
          </a:prstGeom>
          <a:noFill/>
        </p:spPr>
        <p:txBody>
          <a:bodyPr wrap="none" rtlCol="0">
            <a:spAutoFit/>
          </a:bodyPr>
          <a:lstStyle/>
          <a:p>
            <a:r>
              <a:rPr lang="zh-CN" altLang="zh-CN" sz="2000" b="1" dirty="0"/>
              <a:t>现有研究方法无法模拟人类特有脑发育与疾病机制</a:t>
            </a:r>
          </a:p>
          <a:p>
            <a:endParaRPr lang="zh-CN" altLang="en-US" sz="2000" b="1" dirty="0"/>
          </a:p>
        </p:txBody>
      </p:sp>
      <p:sp>
        <p:nvSpPr>
          <p:cNvPr id="6" name="文本框 5">
            <a:extLst>
              <a:ext uri="{FF2B5EF4-FFF2-40B4-BE49-F238E27FC236}">
                <a16:creationId xmlns:a16="http://schemas.microsoft.com/office/drawing/2014/main" id="{27E176A0-426D-E1AB-E70C-26F2AEBF7F76}"/>
              </a:ext>
            </a:extLst>
          </p:cNvPr>
          <p:cNvSpPr txBox="1"/>
          <p:nvPr/>
        </p:nvSpPr>
        <p:spPr>
          <a:xfrm>
            <a:off x="7354322" y="1305312"/>
            <a:ext cx="4619017" cy="984885"/>
          </a:xfrm>
          <a:prstGeom prst="rect">
            <a:avLst/>
          </a:prstGeom>
          <a:noFill/>
        </p:spPr>
        <p:txBody>
          <a:bodyPr wrap="square" rtlCol="0">
            <a:spAutoFit/>
          </a:bodyPr>
          <a:lstStyle/>
          <a:p>
            <a:r>
              <a:rPr lang="zh-CN" altLang="zh-CN" sz="2000" b="1" dirty="0"/>
              <a:t>二维脑细胞培养无法重现复杂病理结构与空间微环境</a:t>
            </a:r>
          </a:p>
          <a:p>
            <a:endParaRPr lang="zh-CN" altLang="en-US" b="1" dirty="0"/>
          </a:p>
        </p:txBody>
      </p:sp>
      <p:sp>
        <p:nvSpPr>
          <p:cNvPr id="8" name="AutoShape 2" descr="Medical Team Diagnosing Brain Conditions 的图像结果">
            <a:extLst>
              <a:ext uri="{FF2B5EF4-FFF2-40B4-BE49-F238E27FC236}">
                <a16:creationId xmlns:a16="http://schemas.microsoft.com/office/drawing/2014/main" id="{47736B9B-3D64-FD00-46F5-9CFF0D09AC1B}"/>
              </a:ext>
            </a:extLst>
          </p:cNvPr>
          <p:cNvSpPr>
            <a:spLocks noChangeAspect="1" noChangeArrowheads="1"/>
          </p:cNvSpPr>
          <p:nvPr/>
        </p:nvSpPr>
        <p:spPr bwMode="auto">
          <a:xfrm>
            <a:off x="5205413" y="2533650"/>
            <a:ext cx="1781175" cy="17907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3" name="图片 12">
            <a:extLst>
              <a:ext uri="{FF2B5EF4-FFF2-40B4-BE49-F238E27FC236}">
                <a16:creationId xmlns:a16="http://schemas.microsoft.com/office/drawing/2014/main" id="{06BA9124-63D4-5023-3ED0-598BD44525D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08672" y="2776584"/>
            <a:ext cx="1830125" cy="1143828"/>
          </a:xfrm>
          <a:prstGeom prst="rect">
            <a:avLst/>
          </a:prstGeom>
        </p:spPr>
      </p:pic>
      <p:pic>
        <p:nvPicPr>
          <p:cNvPr id="1030" name="Picture 6" descr="laboratory white mouse isolated on white background">
            <a:extLst>
              <a:ext uri="{FF2B5EF4-FFF2-40B4-BE49-F238E27FC236}">
                <a16:creationId xmlns:a16="http://schemas.microsoft.com/office/drawing/2014/main" id="{56948CCC-69FB-A050-C448-6EF1678F62D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2288" t="27634" r="30741" b="25122"/>
          <a:stretch>
            <a:fillRect/>
          </a:stretch>
        </p:blipFill>
        <p:spPr bwMode="auto">
          <a:xfrm>
            <a:off x="3908672" y="1766665"/>
            <a:ext cx="1052925" cy="897005"/>
          </a:xfrm>
          <a:prstGeom prst="rect">
            <a:avLst/>
          </a:prstGeom>
          <a:noFill/>
          <a:extLst>
            <a:ext uri="{909E8E84-426E-40DD-AFC4-6F175D3DCCD1}">
              <a14:hiddenFill xmlns:a14="http://schemas.microsoft.com/office/drawing/2010/main">
                <a:solidFill>
                  <a:srgbClr val="FFFFFF"/>
                </a:solidFill>
              </a14:hiddenFill>
            </a:ext>
          </a:extLst>
        </p:spPr>
      </p:pic>
      <p:pic>
        <p:nvPicPr>
          <p:cNvPr id="15" name="图片 14">
            <a:extLst>
              <a:ext uri="{FF2B5EF4-FFF2-40B4-BE49-F238E27FC236}">
                <a16:creationId xmlns:a16="http://schemas.microsoft.com/office/drawing/2014/main" id="{CDA183C4-2C10-FEA3-FA88-C0374B4B634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215673" y="1766665"/>
            <a:ext cx="3754508" cy="2111911"/>
          </a:xfrm>
          <a:prstGeom prst="rect">
            <a:avLst/>
          </a:prstGeom>
        </p:spPr>
      </p:pic>
      <p:pic>
        <p:nvPicPr>
          <p:cNvPr id="17" name="图片 16">
            <a:extLst>
              <a:ext uri="{FF2B5EF4-FFF2-40B4-BE49-F238E27FC236}">
                <a16:creationId xmlns:a16="http://schemas.microsoft.com/office/drawing/2014/main" id="{E023FF3F-CFAB-41F0-34E2-CD6BB54B9FE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270146" y="3920412"/>
            <a:ext cx="2151572" cy="1634105"/>
          </a:xfrm>
          <a:prstGeom prst="rect">
            <a:avLst/>
          </a:prstGeom>
        </p:spPr>
      </p:pic>
      <p:pic>
        <p:nvPicPr>
          <p:cNvPr id="19" name="图片 18">
            <a:extLst>
              <a:ext uri="{FF2B5EF4-FFF2-40B4-BE49-F238E27FC236}">
                <a16:creationId xmlns:a16="http://schemas.microsoft.com/office/drawing/2014/main" id="{ADA12926-7389-42EE-D261-6C6AE565D42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155567" y="5596353"/>
            <a:ext cx="1635544" cy="1436230"/>
          </a:xfrm>
          <a:prstGeom prst="rect">
            <a:avLst/>
          </a:prstGeom>
        </p:spPr>
      </p:pic>
      <p:sp>
        <p:nvSpPr>
          <p:cNvPr id="20" name="文本框 19">
            <a:extLst>
              <a:ext uri="{FF2B5EF4-FFF2-40B4-BE49-F238E27FC236}">
                <a16:creationId xmlns:a16="http://schemas.microsoft.com/office/drawing/2014/main" id="{0C808667-911C-4F2D-86E8-587F8A4C679A}"/>
              </a:ext>
            </a:extLst>
          </p:cNvPr>
          <p:cNvSpPr txBox="1"/>
          <p:nvPr/>
        </p:nvSpPr>
        <p:spPr>
          <a:xfrm>
            <a:off x="13421718" y="4302295"/>
            <a:ext cx="1705046" cy="923330"/>
          </a:xfrm>
          <a:prstGeom prst="rect">
            <a:avLst/>
          </a:prstGeom>
          <a:noFill/>
        </p:spPr>
        <p:txBody>
          <a:bodyPr wrap="square" rtlCol="0">
            <a:spAutoFit/>
          </a:bodyPr>
          <a:lstStyle/>
          <a:p>
            <a:r>
              <a:rPr lang="zh-CN" altLang="en-US" dirty="0"/>
              <a:t>这边有三张，留哪张请自行决定</a:t>
            </a:r>
          </a:p>
        </p:txBody>
      </p:sp>
      <p:pic>
        <p:nvPicPr>
          <p:cNvPr id="22" name="图片 21">
            <a:extLst>
              <a:ext uri="{FF2B5EF4-FFF2-40B4-BE49-F238E27FC236}">
                <a16:creationId xmlns:a16="http://schemas.microsoft.com/office/drawing/2014/main" id="{F24AEAB9-B3B3-B179-F612-47CD213FC1D4}"/>
              </a:ext>
            </a:extLst>
          </p:cNvPr>
          <p:cNvPicPr>
            <a:picLocks noChangeAspect="1"/>
          </p:cNvPicPr>
          <p:nvPr/>
        </p:nvPicPr>
        <p:blipFill>
          <a:blip r:embed="rId9" cstate="print">
            <a:extLst>
              <a:ext uri="{28A0092B-C50C-407E-A947-70E740481C1C}">
                <a14:useLocalDpi xmlns:a14="http://schemas.microsoft.com/office/drawing/2010/main" val="0"/>
              </a:ext>
            </a:extLst>
          </a:blip>
          <a:srcRect t="20132"/>
          <a:stretch>
            <a:fillRect/>
          </a:stretch>
        </p:blipFill>
        <p:spPr>
          <a:xfrm>
            <a:off x="4126432" y="4030099"/>
            <a:ext cx="1781175" cy="2058865"/>
          </a:xfrm>
          <a:prstGeom prst="rect">
            <a:avLst/>
          </a:prstGeom>
        </p:spPr>
      </p:pic>
      <p:pic>
        <p:nvPicPr>
          <p:cNvPr id="24" name="图片 23">
            <a:extLst>
              <a:ext uri="{FF2B5EF4-FFF2-40B4-BE49-F238E27FC236}">
                <a16:creationId xmlns:a16="http://schemas.microsoft.com/office/drawing/2014/main" id="{77F06B29-9940-0F00-4771-61469BE73090}"/>
              </a:ext>
            </a:extLst>
          </p:cNvPr>
          <p:cNvPicPr>
            <a:picLocks noChangeAspect="1"/>
          </p:cNvPicPr>
          <p:nvPr/>
        </p:nvPicPr>
        <p:blipFill>
          <a:blip r:embed="rId10" cstate="print">
            <a:extLst>
              <a:ext uri="{28A0092B-C50C-407E-A947-70E740481C1C}">
                <a14:useLocalDpi xmlns:a14="http://schemas.microsoft.com/office/drawing/2010/main" val="0"/>
              </a:ext>
            </a:extLst>
          </a:blip>
          <a:srcRect l="10144" t="26146" r="52693" b="13648"/>
          <a:stretch>
            <a:fillRect/>
          </a:stretch>
        </p:blipFill>
        <p:spPr>
          <a:xfrm>
            <a:off x="546957" y="5296654"/>
            <a:ext cx="1320991" cy="1203770"/>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a:lstStyle/>
          <a:p>
            <a:r>
              <a:rPr lang="zh-CN" altLang="en-US"/>
              <a:t>社会价值</a:t>
            </a:r>
          </a:p>
        </p:txBody>
      </p:sp>
      <p:sp>
        <p:nvSpPr>
          <p:cNvPr id="4" name="文本框 3"/>
          <p:cNvSpPr txBox="1"/>
          <p:nvPr/>
        </p:nvSpPr>
        <p:spPr>
          <a:xfrm>
            <a:off x="535940" y="1395789"/>
            <a:ext cx="3358515" cy="3139321"/>
          </a:xfrm>
          <a:prstGeom prst="rect">
            <a:avLst/>
          </a:prstGeom>
          <a:noFill/>
        </p:spPr>
        <p:txBody>
          <a:bodyPr wrap="square" rtlCol="0">
            <a:spAutoFit/>
          </a:bodyPr>
          <a:lstStyle/>
          <a:p>
            <a:r>
              <a:rPr lang="zh-CN" altLang="en-US" b="1" dirty="0"/>
              <a:t>改善公共健康</a:t>
            </a:r>
          </a:p>
          <a:p>
            <a:r>
              <a:rPr lang="zh-CN" altLang="en-US" dirty="0"/>
              <a:t>脑类器官可在体外重建人脑发育及疾病过程，为阿尔茨海默病等神经系统疾病提供更接近人体真实状态的研究模型，有助于揭示发病机制并加速治疗策略开发。同时，其能够模拟复杂病理过程，使研究者在早期阶段即可开展候选干预策略的筛选与评估，从而降低研发成本并提升转化效率。</a:t>
            </a:r>
          </a:p>
        </p:txBody>
      </p:sp>
      <p:sp>
        <p:nvSpPr>
          <p:cNvPr id="6" name="文本框 5"/>
          <p:cNvSpPr txBox="1"/>
          <p:nvPr/>
        </p:nvSpPr>
        <p:spPr>
          <a:xfrm>
            <a:off x="4340088" y="1396206"/>
            <a:ext cx="3715910" cy="3416320"/>
          </a:xfrm>
          <a:prstGeom prst="rect">
            <a:avLst/>
          </a:prstGeom>
          <a:noFill/>
        </p:spPr>
        <p:txBody>
          <a:bodyPr wrap="square" rtlCol="0">
            <a:spAutoFit/>
          </a:bodyPr>
          <a:lstStyle/>
          <a:p>
            <a:r>
              <a:rPr lang="zh-CN" altLang="en-US" b="1" dirty="0"/>
              <a:t>助力未来科技发展</a:t>
            </a:r>
          </a:p>
          <a:p>
            <a:r>
              <a:rPr lang="zh-CN" altLang="en-US" dirty="0"/>
              <a:t>脑类器官为解析人脑神经网络结构与信息处理机制提供了实验平台，其在细胞类型组成、神经连接模式及电活动特征等方面的数据，可为人工智能中的神经网络建模提供生物学依据。同时，脑类器官可用于研究神经信号产生与传递规律，为脑机接口技术中信号解码、神经调控及人机交互机制提供实验支撑，从而在基础科学层面推动类脑计算与神经工程的发展。</a:t>
            </a:r>
          </a:p>
        </p:txBody>
      </p:sp>
      <p:sp>
        <p:nvSpPr>
          <p:cNvPr id="8" name="文本框 7"/>
          <p:cNvSpPr txBox="1"/>
          <p:nvPr/>
        </p:nvSpPr>
        <p:spPr>
          <a:xfrm>
            <a:off x="8616839" y="1395789"/>
            <a:ext cx="2799080" cy="1477328"/>
          </a:xfrm>
          <a:prstGeom prst="rect">
            <a:avLst/>
          </a:prstGeom>
          <a:noFill/>
        </p:spPr>
        <p:txBody>
          <a:bodyPr wrap="square" rtlCol="0">
            <a:spAutoFit/>
          </a:bodyPr>
          <a:lstStyle/>
          <a:p>
            <a:r>
              <a:rPr lang="zh-CN" altLang="en-US" b="1" dirty="0"/>
              <a:t>带动就业</a:t>
            </a:r>
          </a:p>
          <a:p>
            <a:r>
              <a:rPr lang="zh-CN" altLang="en-US" dirty="0"/>
              <a:t>直接或间接创造</a:t>
            </a:r>
            <a:r>
              <a:rPr lang="en-US" altLang="zh-CN" dirty="0"/>
              <a:t>10</a:t>
            </a:r>
            <a:r>
              <a:rPr lang="zh-CN" altLang="en-US" dirty="0"/>
              <a:t>＋就业岗位，带动生物医药等上下游产业发展，促进海南省医药与人才发展。</a:t>
            </a:r>
          </a:p>
        </p:txBody>
      </p:sp>
      <p:pic>
        <p:nvPicPr>
          <p:cNvPr id="9" name="图片 8">
            <a:extLst>
              <a:ext uri="{FF2B5EF4-FFF2-40B4-BE49-F238E27FC236}">
                <a16:creationId xmlns:a16="http://schemas.microsoft.com/office/drawing/2014/main" id="{6562EA6D-4DEF-3A78-E30E-0AE711623407}"/>
              </a:ext>
            </a:extLst>
          </p:cNvPr>
          <p:cNvPicPr>
            <a:picLocks noChangeAspect="1"/>
          </p:cNvPicPr>
          <p:nvPr/>
        </p:nvPicPr>
        <p:blipFill>
          <a:blip r:embed="rId4"/>
          <a:srcRect l="628" t="1415" r="1309" b="1411"/>
          <a:stretch>
            <a:fillRect/>
          </a:stretch>
        </p:blipFill>
        <p:spPr>
          <a:xfrm>
            <a:off x="405636" y="4665130"/>
            <a:ext cx="3107584" cy="2051929"/>
          </a:xfrm>
          <a:prstGeom prst="rect">
            <a:avLst/>
          </a:prstGeom>
        </p:spPr>
      </p:pic>
      <p:pic>
        <p:nvPicPr>
          <p:cNvPr id="11" name="图片 10">
            <a:extLst>
              <a:ext uri="{FF2B5EF4-FFF2-40B4-BE49-F238E27FC236}">
                <a16:creationId xmlns:a16="http://schemas.microsoft.com/office/drawing/2014/main" id="{1CBCCA15-8C35-BB69-53FB-403B16E55C67}"/>
              </a:ext>
            </a:extLst>
          </p:cNvPr>
          <p:cNvPicPr>
            <a:picLocks noChangeAspect="1"/>
          </p:cNvPicPr>
          <p:nvPr/>
        </p:nvPicPr>
        <p:blipFill>
          <a:blip r:embed="rId5" cstate="print">
            <a:extLst>
              <a:ext uri="{28A0092B-C50C-407E-A947-70E740481C1C}">
                <a14:useLocalDpi xmlns:a14="http://schemas.microsoft.com/office/drawing/2010/main" val="0"/>
              </a:ext>
            </a:extLst>
          </a:blip>
          <a:srcRect b="4562"/>
          <a:stretch>
            <a:fillRect/>
          </a:stretch>
        </p:blipFill>
        <p:spPr>
          <a:xfrm>
            <a:off x="4516999" y="4750933"/>
            <a:ext cx="3301302" cy="1966126"/>
          </a:xfrm>
          <a:prstGeom prst="rect">
            <a:avLst/>
          </a:prstGeom>
        </p:spPr>
      </p:pic>
      <p:pic>
        <p:nvPicPr>
          <p:cNvPr id="13" name="图片 12">
            <a:extLst>
              <a:ext uri="{FF2B5EF4-FFF2-40B4-BE49-F238E27FC236}">
                <a16:creationId xmlns:a16="http://schemas.microsoft.com/office/drawing/2014/main" id="{803A6477-BF3B-6256-5EB5-45F8E0488830}"/>
              </a:ext>
            </a:extLst>
          </p:cNvPr>
          <p:cNvPicPr>
            <a:picLocks noChangeAspect="1"/>
          </p:cNvPicPr>
          <p:nvPr/>
        </p:nvPicPr>
        <p:blipFill>
          <a:blip r:embed="rId6"/>
          <a:stretch>
            <a:fillRect/>
          </a:stretch>
        </p:blipFill>
        <p:spPr>
          <a:xfrm>
            <a:off x="8884349" y="4750933"/>
            <a:ext cx="3052744" cy="1966126"/>
          </a:xfrm>
          <a:prstGeom prst="rect">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453</Words>
  <Application>Microsoft Office PowerPoint</Application>
  <PresentationFormat>宽屏</PresentationFormat>
  <Paragraphs>18</Paragraphs>
  <Slides>2</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vt:i4>
      </vt:variant>
    </vt:vector>
  </HeadingPairs>
  <TitlesOfParts>
    <vt:vector size="5" baseType="lpstr">
      <vt:lpstr>Arial</vt:lpstr>
      <vt:lpstr>Wingdings</vt:lpstr>
      <vt:lpstr>WPS</vt:lpstr>
      <vt:lpstr>项目背景</vt:lpstr>
      <vt:lpstr>社会价值</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Civet Ruo</cp:lastModifiedBy>
  <cp:revision>170</cp:revision>
  <dcterms:created xsi:type="dcterms:W3CDTF">2019-06-19T02:08:00Z</dcterms:created>
  <dcterms:modified xsi:type="dcterms:W3CDTF">2026-04-18T15:03:55Z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1DF5EB3808D54AAEBFC2757FE758B38F_11</vt:lpwstr>
  </property>
</Properties>
</file>