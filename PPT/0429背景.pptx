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6"/>
  </p:notesMasterIdLst>
  <p:sldIdLst>
    <p:sldId id="266" r:id="rId3"/>
    <p:sldId id="279" r:id="rId4"/>
    <p:sldId id="291" r:id="rId5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37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984713367@qq.com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80B"/>
    <a:srgbClr val="FFE5A3"/>
    <a:srgbClr val="FFCF57"/>
    <a:srgbClr val="FFF5D5"/>
    <a:srgbClr val="032FC3"/>
    <a:srgbClr val="44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837" autoAdjust="0"/>
  </p:normalViewPr>
  <p:slideViewPr>
    <p:cSldViewPr snapToGrid="0" showGuides="1">
      <p:cViewPr varScale="1">
        <p:scale>
          <a:sx n="96" d="100"/>
          <a:sy n="96" d="100"/>
        </p:scale>
        <p:origin x="612" y="52"/>
      </p:cViewPr>
      <p:guideLst>
        <p:guide orient="horz" pos="164"/>
        <p:guide pos="37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F23A6-3F4C-40B5-A3CF-D1C44B7BBE6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74108-30BB-46EF-825B-6263701579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3716-6180-415A-9BE8-081619AF1797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55E5F3-50F8-481B-9BAD-56588AA383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3716-6180-415A-9BE8-081619AF1797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55E5F3-50F8-481B-9BAD-56588AA383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3716-6180-415A-9BE8-081619AF1797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55E5F3-50F8-481B-9BAD-56588AA383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03716-6180-415A-9BE8-081619AF1797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55E5F3-50F8-481B-9BAD-56588AA383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" y="0"/>
            <a:ext cx="1219170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" y="0"/>
            <a:ext cx="1219170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45" b="7342"/>
          <a:stretch>
            <a:fillRect/>
          </a:stretch>
        </p:blipFill>
        <p:spPr>
          <a:xfrm flipV="1">
            <a:off x="-447627" y="529150"/>
            <a:ext cx="4477294" cy="2871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22261"/>
          <a:stretch>
            <a:fillRect/>
          </a:stretch>
        </p:blipFill>
        <p:spPr>
          <a:xfrm>
            <a:off x="0" y="153808"/>
            <a:ext cx="3251200" cy="71329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03270" y="233680"/>
            <a:ext cx="353695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国内外行业现存痛点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B6C22B-E8ED-2FC4-F0BB-845C6003B93D}"/>
              </a:ext>
            </a:extLst>
          </p:cNvPr>
          <p:cNvSpPr txBox="1"/>
          <p:nvPr/>
        </p:nvSpPr>
        <p:spPr>
          <a:xfrm>
            <a:off x="97914" y="1819353"/>
            <a:ext cx="39317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传统二维培养缺乏三维空间支撑，难以模拟脑组织内细胞外基质、细胞黏附和空间迁移环境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水凝胶组成、刚度和批次差异会影响神经细胞生长、分化和长期存活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研究显示，优化水凝胶与动态培养环境可使类器官体积提升 </a:t>
            </a:r>
            <a:r>
              <a:rPr lang="en-US" altLang="zh-CN" dirty="0">
                <a:highlight>
                  <a:srgbClr val="FFFF00"/>
                </a:highlight>
              </a:rPr>
              <a:t>2.2–4</a:t>
            </a:r>
            <a:r>
              <a:rPr lang="zh-CN" altLang="en-US" dirty="0">
                <a:highlight>
                  <a:srgbClr val="FFFF00"/>
                </a:highlight>
              </a:rPr>
              <a:t>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C45D77-E6A3-F188-57D6-E615AF7A94DC}"/>
              </a:ext>
            </a:extLst>
          </p:cNvPr>
          <p:cNvSpPr txBox="1"/>
          <p:nvPr/>
        </p:nvSpPr>
        <p:spPr>
          <a:xfrm>
            <a:off x="781877" y="155713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三维微环境不稳定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91B69F-0C8A-F451-35E9-9BBB668ACA9E}"/>
              </a:ext>
            </a:extLst>
          </p:cNvPr>
          <p:cNvSpPr txBox="1"/>
          <p:nvPr/>
        </p:nvSpPr>
        <p:spPr>
          <a:xfrm>
            <a:off x="9137373" y="15571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内部供养不足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383DDA-5CE0-60B1-F622-C6054A77E24E}"/>
              </a:ext>
            </a:extLst>
          </p:cNvPr>
          <p:cNvSpPr txBox="1"/>
          <p:nvPr/>
        </p:nvSpPr>
        <p:spPr>
          <a:xfrm>
            <a:off x="8378115" y="1819353"/>
            <a:ext cx="3581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脑类器官缺乏功能性血管结构，氧气、营养和代谢废物交换主要依赖被动扩散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无血管类器官氧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  <a:r>
              <a:rPr lang="zh-CN" altLang="en-US" dirty="0">
                <a:solidFill>
                  <a:schemeClr val="bg1"/>
                </a:solidFill>
              </a:rPr>
              <a:t>营养扩散距离约 </a:t>
            </a:r>
            <a:r>
              <a:rPr lang="en-US" altLang="zh-CN" dirty="0">
                <a:highlight>
                  <a:srgbClr val="FFFF00"/>
                </a:highlight>
              </a:rPr>
              <a:t>200–400 </a:t>
            </a:r>
            <a:r>
              <a:rPr lang="en-US" altLang="zh-CN" dirty="0" err="1">
                <a:highlight>
                  <a:srgbClr val="FFFF00"/>
                </a:highlight>
              </a:rPr>
              <a:t>μm</a:t>
            </a:r>
            <a:r>
              <a:rPr lang="zh-CN" altLang="en-US" dirty="0">
                <a:solidFill>
                  <a:schemeClr val="bg1"/>
                </a:solidFill>
              </a:rPr>
              <a:t>，体积增大后易形成缺氧、坏死核心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血管化皮层类器官可培养至约 </a:t>
            </a:r>
            <a:r>
              <a:rPr lang="en-US" altLang="zh-CN" dirty="0">
                <a:highlight>
                  <a:srgbClr val="FFFF00"/>
                </a:highlight>
              </a:rPr>
              <a:t>200</a:t>
            </a:r>
            <a:r>
              <a:rPr lang="zh-CN" altLang="en-US" dirty="0">
                <a:highlight>
                  <a:srgbClr val="FFFF00"/>
                </a:highlight>
              </a:rPr>
              <a:t>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49C975-B7FC-3A51-B30E-B92E86103D67}"/>
              </a:ext>
            </a:extLst>
          </p:cNvPr>
          <p:cNvSpPr txBox="1"/>
          <p:nvPr/>
        </p:nvSpPr>
        <p:spPr>
          <a:xfrm>
            <a:off x="4728543" y="155713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连接通道参数依赖经验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3B8D64-F89F-8953-EABF-BB9B0D7CCD87}"/>
              </a:ext>
            </a:extLst>
          </p:cNvPr>
          <p:cNvSpPr txBox="1"/>
          <p:nvPr/>
        </p:nvSpPr>
        <p:spPr>
          <a:xfrm>
            <a:off x="4130124" y="1926462"/>
            <a:ext cx="39317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多脑区模型的关键在于形成可控、定向、可重复的轴突连接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通道宽度、长度、数量和布局多依赖经验，容易造成细胞跨区混杂或轴突连接失败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研究显示，优化通道几何参数可使轴突生长速度提高 </a:t>
            </a:r>
            <a:r>
              <a:rPr lang="en-US" altLang="zh-CN" dirty="0">
                <a:highlight>
                  <a:srgbClr val="FFFF00"/>
                </a:highlight>
              </a:rPr>
              <a:t>27.9%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A8AC3D-DF69-2259-3CBF-0269D8CE5160}"/>
              </a:ext>
            </a:extLst>
          </p:cNvPr>
          <p:cNvSpPr txBox="1"/>
          <p:nvPr/>
        </p:nvSpPr>
        <p:spPr>
          <a:xfrm>
            <a:off x="3303270" y="1017908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现有类脑器官芯片仍难以实现多脑区长期、稳定、可控培养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E9D984-B6B6-E388-22EC-5AC1A32B9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952" y="4142241"/>
            <a:ext cx="2297812" cy="229781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C2ABEC4-F61A-6B2C-5029-05E3F76CFC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7" t="7716" r="6839" b="19807"/>
          <a:stretch>
            <a:fillRect/>
          </a:stretch>
        </p:blipFill>
        <p:spPr bwMode="auto">
          <a:xfrm>
            <a:off x="231915" y="4142241"/>
            <a:ext cx="3684471" cy="218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56C9D4F-4C89-4C35-8E1C-BE9AB93B1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8543" y="4086639"/>
            <a:ext cx="3060085" cy="2297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45" b="7342"/>
          <a:stretch>
            <a:fillRect/>
          </a:stretch>
        </p:blipFill>
        <p:spPr>
          <a:xfrm flipV="1">
            <a:off x="-447627" y="529150"/>
            <a:ext cx="4477294" cy="2871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22261"/>
          <a:stretch>
            <a:fillRect/>
          </a:stretch>
        </p:blipFill>
        <p:spPr>
          <a:xfrm>
            <a:off x="0" y="153808"/>
            <a:ext cx="3251200" cy="71329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16300" y="233680"/>
            <a:ext cx="259270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社会实际需求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CA38CB-1D58-5C56-994E-934C29871451}"/>
              </a:ext>
            </a:extLst>
          </p:cNvPr>
          <p:cNvSpPr txBox="1"/>
          <p:nvPr/>
        </p:nvSpPr>
        <p:spPr>
          <a:xfrm>
            <a:off x="3180521" y="873112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高可靠类脑器官芯片成为脑科学研究的重要需求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485AC1-F021-1EBA-54F1-54AE47F3E50B}"/>
              </a:ext>
            </a:extLst>
          </p:cNvPr>
          <p:cNvSpPr txBox="1"/>
          <p:nvPr/>
        </p:nvSpPr>
        <p:spPr>
          <a:xfrm>
            <a:off x="4029667" y="159026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脑科学研究需要更接近人体的模型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B310BB-28F6-8A7F-1CB6-4E70AFCAC558}"/>
              </a:ext>
            </a:extLst>
          </p:cNvPr>
          <p:cNvSpPr txBox="1"/>
          <p:nvPr/>
        </p:nvSpPr>
        <p:spPr>
          <a:xfrm>
            <a:off x="7798900" y="159026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监管趋势推动动物实验替代模型发展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920994-FEF1-2E85-9871-8717E3838AF4}"/>
              </a:ext>
            </a:extLst>
          </p:cNvPr>
          <p:cNvSpPr txBox="1"/>
          <p:nvPr/>
        </p:nvSpPr>
        <p:spPr>
          <a:xfrm>
            <a:off x="7949197" y="2154123"/>
            <a:ext cx="3577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FDA </a:t>
            </a:r>
            <a:r>
              <a:rPr lang="zh-CN" altLang="en-US" dirty="0">
                <a:solidFill>
                  <a:schemeClr val="bg1"/>
                </a:solidFill>
              </a:rPr>
              <a:t>正推动类器官、器官芯片等新方法学用于减少或替代部分动物试验，推动人源体外模型从科研工具走向评价工具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CBD71B-74BC-FD54-3A51-F16A80E1787B}"/>
              </a:ext>
            </a:extLst>
          </p:cNvPr>
          <p:cNvSpPr txBox="1"/>
          <p:nvPr/>
        </p:nvSpPr>
        <p:spPr>
          <a:xfrm>
            <a:off x="4255853" y="2120995"/>
            <a:ext cx="31947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动物模型与二维培养难以完整模拟人脑结构、发育过程和病理微环境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脑科学研究亟需更接近人体的体外模型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6EADBC-A4D8-96DB-E10A-73E9C7D81D88}"/>
              </a:ext>
            </a:extLst>
          </p:cNvPr>
          <p:cNvSpPr txBox="1"/>
          <p:nvPr/>
        </p:nvSpPr>
        <p:spPr>
          <a:xfrm>
            <a:off x="954156" y="15902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脑疾病负担加重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3DA06-6A41-C8E3-7784-DB0D0B3A3AEC}"/>
              </a:ext>
            </a:extLst>
          </p:cNvPr>
          <p:cNvSpPr txBox="1"/>
          <p:nvPr/>
        </p:nvSpPr>
        <p:spPr>
          <a:xfrm>
            <a:off x="490014" y="2154124"/>
            <a:ext cx="3332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神经系统疾病已成为全球主要疾病负担之一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影响人群超过</a:t>
            </a:r>
            <a:r>
              <a:rPr lang="en-US" altLang="zh-CN" dirty="0">
                <a:solidFill>
                  <a:schemeClr val="bg1"/>
                </a:solidFill>
              </a:rPr>
              <a:t>30</a:t>
            </a:r>
            <a:r>
              <a:rPr lang="zh-CN" altLang="en-US" dirty="0">
                <a:solidFill>
                  <a:schemeClr val="bg1"/>
                </a:solidFill>
              </a:rPr>
              <a:t>亿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约占全球疾病负担的</a:t>
            </a:r>
            <a:r>
              <a:rPr lang="en-US" altLang="zh-CN" dirty="0">
                <a:solidFill>
                  <a:schemeClr val="bg1"/>
                </a:solidFill>
              </a:rPr>
              <a:t>10%</a:t>
            </a:r>
            <a:r>
              <a:rPr lang="zh-CN" altLang="en-US" dirty="0">
                <a:solidFill>
                  <a:schemeClr val="bg1"/>
                </a:solidFill>
              </a:rPr>
              <a:t>以上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193459F-B010-A0F6-10BD-6FC9EBE2A68E}"/>
              </a:ext>
            </a:extLst>
          </p:cNvPr>
          <p:cNvGrpSpPr>
            <a:grpSpLocks noChangeAspect="1"/>
          </p:cNvGrpSpPr>
          <p:nvPr/>
        </p:nvGrpSpPr>
        <p:grpSpPr>
          <a:xfrm>
            <a:off x="8359892" y="3598323"/>
            <a:ext cx="3695162" cy="2906102"/>
            <a:chOff x="7883550" y="3598323"/>
            <a:chExt cx="3866708" cy="304101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FCD33DA-4AA6-A1EE-B2E9-01EEFBF1E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3713"/>
            <a:stretch>
              <a:fillRect/>
            </a:stretch>
          </p:blipFill>
          <p:spPr>
            <a:xfrm>
              <a:off x="7883551" y="3598323"/>
              <a:ext cx="3866707" cy="1439073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67EF869-E531-9479-08A9-A718F18E1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3550" y="5088354"/>
              <a:ext cx="3864831" cy="1550985"/>
            </a:xfrm>
            <a:prstGeom prst="rect">
              <a:avLst/>
            </a:prstGeom>
          </p:spPr>
        </p:pic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13CA9854-CF53-BD52-56E6-0E851E84B5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634" y="3598323"/>
            <a:ext cx="4475613" cy="292033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CBC5932-8AED-C4B2-C7D3-5ECBBAE837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45" y="3598323"/>
            <a:ext cx="3392854" cy="292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45" b="7342"/>
          <a:stretch>
            <a:fillRect/>
          </a:stretch>
        </p:blipFill>
        <p:spPr>
          <a:xfrm flipV="1">
            <a:off x="-447627" y="529150"/>
            <a:ext cx="4477294" cy="2871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22261"/>
          <a:stretch>
            <a:fillRect/>
          </a:stretch>
        </p:blipFill>
        <p:spPr>
          <a:xfrm>
            <a:off x="0" y="153808"/>
            <a:ext cx="3251200" cy="71329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16300" y="233680"/>
            <a:ext cx="259270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政策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AF6F8-446A-2D29-308F-E98999596E6C}"/>
              </a:ext>
            </a:extLst>
          </p:cNvPr>
          <p:cNvSpPr txBox="1"/>
          <p:nvPr/>
        </p:nvSpPr>
        <p:spPr>
          <a:xfrm>
            <a:off x="271669" y="5384822"/>
            <a:ext cx="3831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《</a:t>
            </a:r>
            <a:r>
              <a:rPr lang="zh-CN" altLang="en-US" dirty="0">
                <a:solidFill>
                  <a:schemeClr val="bg1"/>
                </a:solidFill>
              </a:rPr>
              <a:t>中华人民共和国国民经济和社会发展第十五个五年规划纲要</a:t>
            </a:r>
            <a:r>
              <a:rPr lang="en-US" altLang="zh-CN" dirty="0">
                <a:solidFill>
                  <a:schemeClr val="bg1"/>
                </a:solidFill>
              </a:rPr>
              <a:t>》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C2B11B-D8C6-5C25-6CBB-5A6F4D7340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0" b="22951"/>
          <a:stretch>
            <a:fillRect/>
          </a:stretch>
        </p:blipFill>
        <p:spPr>
          <a:xfrm>
            <a:off x="4137673" y="796425"/>
            <a:ext cx="3916654" cy="428136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92A83F8-9232-BDE8-4C39-D2FDF06647A5}"/>
              </a:ext>
            </a:extLst>
          </p:cNvPr>
          <p:cNvSpPr txBox="1"/>
          <p:nvPr/>
        </p:nvSpPr>
        <p:spPr>
          <a:xfrm>
            <a:off x="4538869" y="5415244"/>
            <a:ext cx="329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《</a:t>
            </a:r>
            <a:r>
              <a:rPr lang="zh-CN" altLang="en-US" dirty="0">
                <a:solidFill>
                  <a:schemeClr val="bg1"/>
                </a:solidFill>
              </a:rPr>
              <a:t>科技创新</a:t>
            </a:r>
            <a:r>
              <a:rPr lang="en-US" altLang="zh-CN" dirty="0">
                <a:solidFill>
                  <a:schemeClr val="bg1"/>
                </a:solidFill>
              </a:rPr>
              <a:t>2030——</a:t>
            </a:r>
            <a:r>
              <a:rPr lang="zh-CN" altLang="en-US" dirty="0">
                <a:solidFill>
                  <a:schemeClr val="bg1"/>
                </a:solidFill>
              </a:rPr>
              <a:t>“脑科学与类脑研究”</a:t>
            </a:r>
            <a:r>
              <a:rPr lang="en-US" altLang="zh-CN" dirty="0">
                <a:solidFill>
                  <a:schemeClr val="bg1"/>
                </a:solidFill>
              </a:rPr>
              <a:t>》</a:t>
            </a:r>
            <a:r>
              <a:rPr lang="zh-CN" altLang="en-US" dirty="0">
                <a:solidFill>
                  <a:schemeClr val="bg1"/>
                </a:solidFill>
              </a:rPr>
              <a:t>重大项目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34A801-0AB2-E263-53C4-CA72D995DF8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90947" y="816302"/>
            <a:ext cx="3788409" cy="426149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8F36B34-900D-C086-408D-F04EF5EF642D}"/>
              </a:ext>
            </a:extLst>
          </p:cNvPr>
          <p:cNvSpPr txBox="1"/>
          <p:nvPr/>
        </p:nvSpPr>
        <p:spPr>
          <a:xfrm>
            <a:off x="8375374" y="5621566"/>
            <a:ext cx="3605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《</a:t>
            </a:r>
            <a:r>
              <a:rPr lang="zh-CN" altLang="en-US" dirty="0">
                <a:solidFill>
                  <a:schemeClr val="bg1"/>
                </a:solidFill>
              </a:rPr>
              <a:t>“健康中国</a:t>
            </a:r>
            <a:r>
              <a:rPr lang="en-US" altLang="zh-CN" dirty="0">
                <a:solidFill>
                  <a:schemeClr val="bg1"/>
                </a:solidFill>
              </a:rPr>
              <a:t>2030”</a:t>
            </a:r>
            <a:r>
              <a:rPr lang="zh-CN" altLang="en-US" dirty="0">
                <a:solidFill>
                  <a:schemeClr val="bg1"/>
                </a:solidFill>
              </a:rPr>
              <a:t>规划纲要</a:t>
            </a:r>
            <a:r>
              <a:rPr lang="en-US" altLang="zh-CN" dirty="0">
                <a:solidFill>
                  <a:schemeClr val="bg1"/>
                </a:solidFill>
              </a:rPr>
              <a:t>》</a:t>
            </a:r>
            <a:r>
              <a:rPr lang="zh-CN" altLang="en-US" dirty="0">
                <a:solidFill>
                  <a:schemeClr val="bg1"/>
                </a:solidFill>
              </a:rPr>
              <a:t>节选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7332B2-C01F-E153-5C30-A03A29C620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93"/>
          <a:stretch>
            <a:fillRect/>
          </a:stretch>
        </p:blipFill>
        <p:spPr>
          <a:xfrm>
            <a:off x="271669" y="816302"/>
            <a:ext cx="3629383" cy="4281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337</Words>
  <Application>Microsoft Office PowerPoint</Application>
  <PresentationFormat>宽屏</PresentationFormat>
  <Paragraphs>29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乐夫 于</dc:creator>
  <cp:lastModifiedBy>Civet Ruo</cp:lastModifiedBy>
  <cp:revision>96</cp:revision>
  <dcterms:created xsi:type="dcterms:W3CDTF">2026-02-27T10:10:00Z</dcterms:created>
  <dcterms:modified xsi:type="dcterms:W3CDTF">2026-04-29T09:32:01Z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F632C0349C414822AF0AEC9E3AA82829_12</vt:lpwstr>
  </property>
</Properties>
</file>